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8" y="1425018"/>
            <a:ext cx="4572000" cy="9904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200400"/>
            <a:ext cx="1036015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PAINDICATOR</a:t>
            </a:r>
          </a:p>
          <a:p>
            <a:pPr algn="ctr">
              <a:spcAft>
                <a:spcPts val="1400"/>
              </a:spcAft>
            </a:pPr>
            <a:r>
              <a:rPr sz="2200" b="1" i="1">
                <a:solidFill>
                  <a:srgbClr val="00CED1"/>
                </a:solidFill>
                <a:latin typeface="Calibri"/>
              </a:rPr>
              <a:t>Map Your Pain</a:t>
            </a:r>
          </a:p>
          <a:p>
            <a:pPr algn="ctr">
              <a:spcAft>
                <a:spcPts val="1800"/>
              </a:spcAft>
            </a:pPr>
            <a:r>
              <a:rPr sz="1800" b="0" i="0">
                <a:solidFill>
                  <a:srgbClr val="E8F7F7"/>
                </a:solidFill>
                <a:latin typeface="Calibri"/>
              </a:rPr>
              <a:t>A clinical decision-support system for digital pain mapping &amp; dermatome analysis</a:t>
            </a:r>
          </a:p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Amit Bezalel  ·  Shachar Guttman   |   Biomedical Engineering, Tel Aviv University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8F7F7"/>
                </a:solidFill>
                <a:latin typeface="Calibri"/>
              </a:rPr>
              <a:t>Supervisor: Prof. Mickey Scheinowitz   ·   In collaboration with Loewenstein Rehabilitation Medical Center (Clalit Health Services)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0CED1"/>
                </a:solidFill>
                <a:latin typeface="Calibri"/>
              </a:rPr>
              <a:t>THE PROBLEM</a:t>
            </a:r>
          </a:p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63B3D"/>
                </a:solidFill>
                <a:latin typeface="Calibri"/>
              </a:rPr>
              <a:t>Pain is everywhere — and barely documented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2011680" cy="54864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6583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262B2B"/>
                </a:solidFill>
                <a:latin typeface="Calibri"/>
              </a:rPr>
              <a:t>Pain is a top reason people see a doctor — yet one of the worst-documented clinical signals.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262B2B"/>
                </a:solidFill>
                <a:latin typeface="Calibri"/>
              </a:rPr>
              <a:t>•  Recorded as free text or a felt-tip drawing on a paper body chart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262B2B"/>
                </a:solidFill>
                <a:latin typeface="Calibri"/>
              </a:rPr>
              <a:t>•  Subjective &amp; unstructured — no numbers to compute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262B2B"/>
                </a:solidFill>
                <a:latin typeface="Calibri"/>
              </a:rPr>
              <a:t>•  Not comparable over time — pain care is about change, and we throw it away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262B2B"/>
                </a:solidFill>
                <a:latin typeface="Calibri"/>
              </a:rPr>
              <a:t>•  Loses anatomical precision — a flat sketch doesn't point to a spinal level</a:t>
            </a:r>
          </a:p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A5356"/>
                </a:solidFill>
                <a:latin typeface="Calibri"/>
              </a:rPr>
              <a:t>The clinician's real job — localizing pain to a spinal nerve level — is done from memory and a 2D picture.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2011680"/>
            <a:ext cx="3931920" cy="3657600"/>
          </a:xfrm>
          <a:prstGeom prst="rect">
            <a:avLst/>
          </a:prstGeom>
          <a:solidFill>
            <a:srgbClr val="E8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237744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400" b="1" i="0">
                <a:solidFill>
                  <a:srgbClr val="00CED1"/>
                </a:solidFill>
                <a:latin typeface="Calibri"/>
              </a:rPr>
              <a:t>TODAY</a:t>
            </a:r>
          </a:p>
          <a:p>
            <a:pPr algn="ctr">
              <a:spcAft>
                <a:spcPts val="1000"/>
              </a:spcAft>
            </a:pPr>
            <a:r>
              <a:rPr sz="2000" b="1" i="0">
                <a:solidFill>
                  <a:srgbClr val="063B3D"/>
                </a:solidFill>
                <a:latin typeface="Calibri"/>
              </a:rPr>
              <a:t>✎  paper drawing</a:t>
            </a:r>
          </a:p>
          <a:p>
            <a:pPr algn="ctr">
              <a:spcAft>
                <a:spcPts val="1000"/>
              </a:spcAft>
            </a:pPr>
            <a:r>
              <a:rPr sz="1800" b="0" i="1">
                <a:solidFill>
                  <a:srgbClr val="5A6666"/>
                </a:solidFill>
                <a:latin typeface="Calibri"/>
              </a:rPr>
              <a:t>“lower back, radiating
down the leg”</a:t>
            </a:r>
          </a:p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C0392B"/>
                </a:solidFill>
                <a:latin typeface="Calibri"/>
              </a:rPr>
              <a:t>→ subjective
→ not measurable
→ not trackable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6666"/>
                </a:solidFill>
                <a:latin typeface="Calibri"/>
              </a:rPr>
              <a:t>PAINDICATOR  ·  Tel Aviv University × Loewenstein (Clalit)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0CED1"/>
                </a:solidFill>
                <a:latin typeface="Calibri"/>
              </a:rPr>
              <a:t>THE INSIGHT</a:t>
            </a:r>
          </a:p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63B3D"/>
                </a:solidFill>
                <a:latin typeface="Calibri"/>
              </a:rPr>
              <a:t>Paint pain on a 3D body — every point is a nerve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2011680" cy="54864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74155" y="2670139"/>
            <a:ext cx="5139690" cy="2706439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inting-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679664"/>
            <a:ext cx="5120640" cy="26873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103120"/>
            <a:ext cx="5760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 i="0">
                <a:solidFill>
                  <a:srgbClr val="262B2B"/>
                </a:solidFill>
                <a:latin typeface="Calibri"/>
              </a:rPr>
              <a:t>What if the patient painted their pain onto an interactive 3D model?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62B2B"/>
                </a:solidFill>
                <a:latin typeface="Calibri"/>
              </a:rPr>
              <a:t>•  Three intensity levels — mild / moderate / severe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62B2B"/>
                </a:solidFill>
                <a:latin typeface="Calibri"/>
              </a:rPr>
              <a:t>•  Every vertex is mapped to a dermatome (the skin of one spinal nerve root)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62B2B"/>
                </a:solidFill>
                <a:latin typeface="Calibri"/>
              </a:rPr>
              <a:t>•  So painting isn't a picture — it becomes anatomical data, automatically</a:t>
            </a:r>
          </a:p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CED1"/>
                </a:solidFill>
                <a:latin typeface="Calibri"/>
              </a:rPr>
              <a:t>Subjective report  →  quantitative, anatomical 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6666"/>
                </a:solidFill>
                <a:latin typeface="Calibri"/>
              </a:rPr>
              <a:t>PAINDICATOR  ·  Tel Aviv University × Loewenstein (Clalit)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0CED1"/>
                </a:solidFill>
                <a:latin typeface="Calibri"/>
              </a:rPr>
              <a:t>SEE IT WORK</a:t>
            </a:r>
          </a:p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63B3D"/>
                </a:solidFill>
                <a:latin typeface="Calibri"/>
              </a:rPr>
              <a:t>From patient drawing to clinician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2011680" cy="54864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87657" y="1956435"/>
            <a:ext cx="3516926" cy="198501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el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182" y="1965960"/>
            <a:ext cx="3497876" cy="1965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032873" y="1956435"/>
            <a:ext cx="3765054" cy="198501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inting-fr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398" y="1965960"/>
            <a:ext cx="3746004" cy="1965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487657" y="4059555"/>
            <a:ext cx="3516926" cy="198501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inting-b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7182" y="4069080"/>
            <a:ext cx="3497876" cy="1965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156937" y="4059555"/>
            <a:ext cx="3516926" cy="198501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linician-analys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6462" y="4069080"/>
            <a:ext cx="3497876" cy="19659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40080" y="1965960"/>
            <a:ext cx="3090672" cy="384048"/>
          </a:xfrm>
          <a:prstGeom prst="rect">
            <a:avLst/>
          </a:prstGeom>
          <a:solidFill>
            <a:srgbClr val="063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 · Guided entry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965960"/>
            <a:ext cx="3584448" cy="384048"/>
          </a:xfrm>
          <a:prstGeom prst="rect">
            <a:avLst/>
          </a:prstGeom>
          <a:solidFill>
            <a:srgbClr val="063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 · Paint the front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69080"/>
            <a:ext cx="4901183" cy="384048"/>
          </a:xfrm>
          <a:prstGeom prst="rect">
            <a:avLst/>
          </a:prstGeom>
          <a:solidFill>
            <a:srgbClr val="063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 · Rotate &amp; paint the back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4069080"/>
            <a:ext cx="4078224" cy="384048"/>
          </a:xfrm>
          <a:prstGeom prst="rect">
            <a:avLst/>
          </a:prstGeom>
          <a:solidFill>
            <a:srgbClr val="063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 · Clinician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5A6666"/>
                </a:solidFill>
                <a:latin typeface="Calibri"/>
              </a:rPr>
              <a:t>Live demo optional — these captured screens are the fallback flow.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6666"/>
                </a:solidFill>
                <a:latin typeface="Calibri"/>
              </a:rPr>
              <a:t>PAINDICATOR  ·  Tel Aviv University × Loewenstein (Clalit)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0CED1"/>
                </a:solidFill>
                <a:latin typeface="Calibri"/>
              </a:rPr>
              <a:t>HOW IT WORKS</a:t>
            </a:r>
          </a:p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63B3D"/>
                </a:solidFill>
                <a:latin typeface="Calibri"/>
              </a:rPr>
              <a:t>From paint to ranked, per-nerve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2011680" cy="54864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10515600" cy="841248"/>
          </a:xfrm>
          <a:prstGeom prst="rect">
            <a:avLst/>
          </a:prstGeom>
          <a:solidFill>
            <a:srgbClr val="E8F7F7"/>
          </a:solidFill>
          <a:ln w="15875">
            <a:solidFill>
              <a:srgbClr val="00CE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2340864"/>
            <a:ext cx="548640" cy="54864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267712"/>
            <a:ext cx="9326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63B3D"/>
                </a:solidFill>
                <a:latin typeface="Calibri"/>
              </a:rPr>
              <a:t>Patient paints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A6666"/>
                </a:solidFill>
                <a:latin typeface="Calibri"/>
              </a:rPr>
              <a:t>per-vertex levels 0–3 on the 3D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163824"/>
            <a:ext cx="10515600" cy="841248"/>
          </a:xfrm>
          <a:prstGeom prst="rect">
            <a:avLst/>
          </a:prstGeom>
          <a:solidFill>
            <a:srgbClr val="FFFFFF"/>
          </a:solidFill>
          <a:ln w="15875">
            <a:solidFill>
              <a:srgbClr val="00CE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3310128"/>
            <a:ext cx="548640" cy="54864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236976"/>
            <a:ext cx="9326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63B3D"/>
                </a:solidFill>
                <a:latin typeface="Calibri"/>
              </a:rPr>
              <a:t>Dermatome lookup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A6666"/>
                </a:solidFill>
                <a:latin typeface="Calibri"/>
              </a:rPr>
              <a:t>1 byte / vertex map → C1–S5 (31 dermatomes)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133088"/>
            <a:ext cx="10515600" cy="841248"/>
          </a:xfrm>
          <a:prstGeom prst="rect">
            <a:avLst/>
          </a:prstGeom>
          <a:solidFill>
            <a:srgbClr val="E8F7F7"/>
          </a:solidFill>
          <a:ln w="15875">
            <a:solidFill>
              <a:srgbClr val="00CE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4279392"/>
            <a:ext cx="548640" cy="54864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206240"/>
            <a:ext cx="9326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63B3D"/>
                </a:solidFill>
                <a:latin typeface="Calibri"/>
              </a:rPr>
              <a:t>Coverage engine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A6666"/>
                </a:solidFill>
                <a:latin typeface="Calibri"/>
              </a:rPr>
              <a:t>pure math · no graphics · fully testable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102352"/>
            <a:ext cx="10515600" cy="841248"/>
          </a:xfrm>
          <a:prstGeom prst="rect">
            <a:avLst/>
          </a:prstGeom>
          <a:solidFill>
            <a:srgbClr val="FFFFFF"/>
          </a:solidFill>
          <a:ln w="15875">
            <a:solidFill>
              <a:srgbClr val="00CE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5840" y="5248656"/>
            <a:ext cx="548640" cy="54864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175504"/>
            <a:ext cx="9326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63B3D"/>
                </a:solidFill>
                <a:latin typeface="Calibri"/>
              </a:rPr>
              <a:t>Ranked output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A6666"/>
                </a:solidFill>
                <a:latin typeface="Calibri"/>
              </a:rPr>
              <a:t>per-dermatome metrics + clinician panel + saved 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6666"/>
                </a:solidFill>
                <a:latin typeface="Calibri"/>
              </a:rPr>
              <a:t>PAINDICATOR  ·  Tel Aviv University × Loewenstein (Clalit)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0CED1"/>
                </a:solidFill>
                <a:latin typeface="Calibri"/>
              </a:rPr>
              <a:t>CLINICAL VALUE</a:t>
            </a:r>
          </a:p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63B3D"/>
                </a:solidFill>
                <a:latin typeface="Calibri"/>
              </a:rPr>
              <a:t>Quantitative dermatome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2011680" cy="54864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62875" y="2431655"/>
            <a:ext cx="3859530" cy="2177567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inician-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441180"/>
            <a:ext cx="3840480" cy="2158517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74519"/>
          <a:ext cx="6858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389120"/>
              </a:tblGrid>
              <a:tr h="5486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54864" marT="18288" marB="18288" anchor="ctr">
                    <a:solidFill>
                      <a:srgbClr val="063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What it tells the clinician</a:t>
                      </a:r>
                    </a:p>
                  </a:txBody>
                  <a:tcPr marL="73152" marR="54864" marT="18288" marB="18288" anchor="ctr">
                    <a:solidFill>
                      <a:srgbClr val="063B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A5356"/>
                          </a:solidFill>
                          <a:latin typeface="Calibri"/>
                        </a:rPr>
                        <a:t>Weighted pain burden</a:t>
                      </a:r>
                    </a:p>
                  </a:txBody>
                  <a:tcPr marL="73152" marR="54864" marT="18288" marB="18288" anchor="ctr">
                    <a:solidFill>
                      <a:srgbClr val="E8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B2B"/>
                          </a:solidFill>
                          <a:latin typeface="Calibri"/>
                        </a:rPr>
                        <a:t>this nerve level's share of total pain → ranks the dominant level</a:t>
                      </a:r>
                    </a:p>
                  </a:txBody>
                  <a:tcPr marL="73152" marR="54864" marT="18288" marB="18288" anchor="ctr">
                    <a:solidFill>
                      <a:srgbClr val="E8F7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A5356"/>
                          </a:solidFill>
                          <a:latin typeface="Calibri"/>
                        </a:rPr>
                        <a:t>Pain area share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B2B"/>
                          </a:solidFill>
                          <a:latin typeface="Calibri"/>
                        </a:rPr>
                        <a:t>large mild area vs small intense area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A5356"/>
                          </a:solidFill>
                          <a:latin typeface="Calibri"/>
                        </a:rPr>
                        <a:t>Local involvement</a:t>
                      </a:r>
                    </a:p>
                  </a:txBody>
                  <a:tcPr marL="73152" marR="54864" marT="18288" marB="18288" anchor="ctr">
                    <a:solidFill>
                      <a:srgbClr val="E8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B2B"/>
                          </a:solidFill>
                          <a:latin typeface="Calibri"/>
                        </a:rPr>
                        <a:t>how much of the nerve zone is affected</a:t>
                      </a:r>
                    </a:p>
                  </a:txBody>
                  <a:tcPr marL="73152" marR="54864" marT="18288" marB="18288" anchor="ctr">
                    <a:solidFill>
                      <a:srgbClr val="E8F7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A5356"/>
                          </a:solidFill>
                          <a:latin typeface="Calibri"/>
                        </a:rPr>
                        <a:t>Mean local intensity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B2B"/>
                          </a:solidFill>
                          <a:latin typeface="Calibri"/>
                        </a:rPr>
                        <a:t>average severity where painted (1–3)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A5356"/>
                          </a:solidFill>
                          <a:latin typeface="Calibri"/>
                        </a:rPr>
                        <a:t>Segmental spread</a:t>
                      </a:r>
                    </a:p>
                  </a:txBody>
                  <a:tcPr marL="73152" marR="54864" marT="18288" marB="18288" anchor="ctr">
                    <a:solidFill>
                      <a:srgbClr val="E8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B2B"/>
                          </a:solidFill>
                          <a:latin typeface="Calibri"/>
                        </a:rPr>
                        <a:t>narrow = single level · wide = central/multifocal</a:t>
                      </a:r>
                    </a:p>
                  </a:txBody>
                  <a:tcPr marL="73152" marR="54864" marT="18288" marB="18288" anchor="ctr">
                    <a:solidFill>
                      <a:srgbClr val="E8F7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A5356"/>
                          </a:solidFill>
                          <a:latin typeface="Calibri"/>
                        </a:rPr>
                        <a:t>Overlap flag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62B2B"/>
                          </a:solidFill>
                          <a:latin typeface="Calibri"/>
                        </a:rPr>
                        <a:t>adjacent levels near-equal → radiculopathy ambiguity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0" y="525780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1">
                <a:solidFill>
                  <a:srgbClr val="063B3D"/>
                </a:solidFill>
                <a:latin typeface="Calibri"/>
              </a:rPr>
              <a:t>“L5–S1 distribution, 78% burden in L5, sharp 3/3 → consistent with L5–S1 disc herniation.”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6666"/>
                </a:solidFill>
                <a:latin typeface="Calibri"/>
              </a:rPr>
              <a:t>PAINDICATOR  ·  Tel Aviv University × Loewenstein (Clalit)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0CED1"/>
                </a:solidFill>
                <a:latin typeface="Calibri"/>
              </a:rPr>
              <a:t>CLINICAL + TECHNICAL</a:t>
            </a:r>
          </a:p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63B3D"/>
                </a:solidFill>
                <a:latin typeface="Calibri"/>
              </a:rPr>
              <a:t>Explainable decision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2011680" cy="54864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669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 i="0">
                <a:solidFill>
                  <a:srgbClr val="262B2B"/>
                </a:solidFill>
                <a:latin typeface="Calibri"/>
              </a:rPr>
              <a:t>A rule-based analyzer correlates the dermatome pattern with the questionnaire: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62B2B"/>
                </a:solidFill>
                <a:latin typeface="Calibri"/>
              </a:rPr>
              <a:t>•  Localizing patterns — e.g. L5–S1 sciatica, C6–C7 disc, femoral nerve (L2–L4)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62B2B"/>
                </a:solidFill>
                <a:latin typeface="Calibri"/>
              </a:rPr>
              <a:t>•  Symptom phenotyping — burning+tingling → neuropathic; Valsalva-positive → disc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62B2B"/>
                </a:solidFill>
                <a:latin typeface="Calibri"/>
              </a:rPr>
              <a:t>•  Widespread (≥7 levels) → central sensitization / fibromyalgia</a:t>
            </a:r>
          </a:p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A5356"/>
                </a:solidFill>
                <a:latin typeface="Calibri"/>
              </a:rPr>
              <a:t>Every line is a readable rule a clinician can audit &amp; override — explainable, not a black box.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2011680"/>
            <a:ext cx="4937760" cy="2743200"/>
          </a:xfrm>
          <a:prstGeom prst="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0" y="2011680"/>
            <a:ext cx="109728" cy="2743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2194560"/>
            <a:ext cx="4572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RED FLAGS surfaced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62B2B"/>
                </a:solidFill>
                <a:latin typeface="Calibri"/>
              </a:rPr>
              <a:t>•  Cauda equina (S3–S4–S5 / bladder–bowel) → urgent referral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62B2B"/>
                </a:solidFill>
                <a:latin typeface="Calibri"/>
              </a:rPr>
              <a:t>•  Severe unilateral thoracic band → herpes zoster (pre-rash)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62B2B"/>
                </a:solidFill>
                <a:latin typeface="Calibri"/>
              </a:rPr>
              <a:t>•  Fever + spine pain → discitis / epidural abscess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62B2B"/>
                </a:solidFill>
                <a:latin typeface="Calibri"/>
              </a:rPr>
              <a:t>•  Multi-level cervical/thoracic → myelopathy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4983480"/>
            <a:ext cx="4937760" cy="1005840"/>
          </a:xfrm>
          <a:prstGeom prst="rect">
            <a:avLst/>
          </a:prstGeom>
          <a:solidFill>
            <a:srgbClr val="063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512064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Decision support — descriptive only. Not a diagnosis; not a substitute for clinical judgment.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6666"/>
                </a:solidFill>
                <a:latin typeface="Calibri"/>
              </a:rPr>
              <a:t>PAINDICATOR  ·  Tel Aviv University × Loewenstein (Clalit)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0CED1"/>
                </a:solidFill>
                <a:latin typeface="Calibri"/>
              </a:rPr>
              <a:t>ENGINEERING</a:t>
            </a:r>
          </a:p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63B3D"/>
                </a:solidFill>
                <a:latin typeface="Calibri"/>
              </a:rPr>
              <a:t>A real, robust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2011680" cy="54864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6400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262B2B"/>
                </a:solidFill>
                <a:latin typeface="Calibri"/>
              </a:rPr>
              <a:t>~5,600 lines of Python · clean ownership split: rendering / interaction / analytics core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262B2B"/>
                </a:solidFill>
                <a:latin typeface="Calibri"/>
              </a:rPr>
              <a:t>•  PyQt6 UI + VTK 3D pipeline (lazy init, crash-safe lifecycle)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262B2B"/>
                </a:solidFill>
                <a:latin typeface="Calibri"/>
              </a:rPr>
              <a:t>•  Per-vertex radius brush with normal gating — can't paint through the body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262B2B"/>
                </a:solidFill>
                <a:latin typeface="Calibri"/>
              </a:rPr>
              <a:t>•  Gap-free fast strokes + true per-stroke undo + erase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262B2B"/>
                </a:solidFill>
                <a:latin typeface="Calibri"/>
              </a:rPr>
              <a:t>•  Tablet-first: stylus pressure, two-finger pinch / pan / rotate, gesture guide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262B2B"/>
                </a:solidFill>
                <a:latin typeface="Calibri"/>
              </a:rPr>
              <a:t>•  Bilingual English / Hebrew with full RTL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262B2B"/>
                </a:solidFill>
                <a:latin typeface="Calibri"/>
              </a:rPr>
              <a:t>•  Ships as a standalone, offline Windows EXE (PyInstaller)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1965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0CED1"/>
                </a:solidFill>
                <a:latin typeface="Calibri"/>
              </a:rPr>
              <a:t>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2468880"/>
            <a:ext cx="2267712" cy="384048"/>
          </a:xfrm>
          <a:prstGeom prst="rect">
            <a:avLst/>
          </a:prstGeom>
          <a:solidFill>
            <a:srgbClr val="0A5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Python 3.11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3017520"/>
            <a:ext cx="2103120" cy="384048"/>
          </a:xfrm>
          <a:prstGeom prst="rect">
            <a:avLst/>
          </a:prstGeom>
          <a:solidFill>
            <a:srgbClr val="0A5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PyQt6 6.10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3566160"/>
            <a:ext cx="1938528" cy="384048"/>
          </a:xfrm>
          <a:prstGeom prst="rect">
            <a:avLst/>
          </a:prstGeom>
          <a:solidFill>
            <a:srgbClr val="0A5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VTK 9.5.2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4114800"/>
            <a:ext cx="2267712" cy="384048"/>
          </a:xfrm>
          <a:prstGeom prst="rect">
            <a:avLst/>
          </a:prstGeom>
          <a:solidFill>
            <a:srgbClr val="0A5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NumPy 2.3.5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4663440"/>
            <a:ext cx="2267712" cy="384048"/>
          </a:xfrm>
          <a:prstGeom prst="rect">
            <a:avLst/>
          </a:prstGeom>
          <a:solidFill>
            <a:srgbClr val="0A5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Pillow 12.0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5212080"/>
            <a:ext cx="3090672" cy="384048"/>
          </a:xfrm>
          <a:prstGeom prst="rect">
            <a:avLst/>
          </a:prstGeom>
          <a:solidFill>
            <a:srgbClr val="0A5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PyInstaller 6.17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5486400"/>
            <a:ext cx="4114800" cy="640080"/>
          </a:xfrm>
          <a:prstGeom prst="rect">
            <a:avLst/>
          </a:prstGeom>
          <a:solidFill>
            <a:srgbClr val="E8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555955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63B3D"/>
                </a:solidFill>
                <a:latin typeface="Calibri"/>
              </a:rPr>
              <a:t>2 models · 31 dermatomes · 12 screens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6666"/>
                </a:solidFill>
                <a:latin typeface="Calibri"/>
              </a:rPr>
              <a:t>PAINDICATOR  ·  Tel Aviv University × Loewenstein (Clalit)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0CED1"/>
                </a:solidFill>
                <a:latin typeface="Calibri"/>
              </a:rPr>
              <a:t>REAL-WORLD IMPACT</a:t>
            </a:r>
          </a:p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63B3D"/>
                </a:solidFill>
                <a:latin typeface="Calibri"/>
              </a:rPr>
              <a:t>Built with a clinical partner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2011680" cy="54864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6583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1" i="0">
                <a:solidFill>
                  <a:srgbClr val="262B2B"/>
                </a:solidFill>
                <a:latin typeface="Calibri"/>
              </a:rPr>
              <a:t>Co-developed with Loewenstein Rehabilitation Medical Center (Clalit Health Services) around a real documentation problem.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A5356"/>
                </a:solidFill>
                <a:latin typeface="Calibri"/>
              </a:rPr>
              <a:t>Where it helps: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62B2B"/>
                </a:solidFill>
                <a:latin typeface="Calibri"/>
              </a:rPr>
              <a:t>•  Pain clinics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62B2B"/>
                </a:solidFill>
                <a:latin typeface="Calibri"/>
              </a:rPr>
              <a:t>•  Neurology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62B2B"/>
                </a:solidFill>
                <a:latin typeface="Calibri"/>
              </a:rPr>
              <a:t>•  Orthopedics &amp; spine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62B2B"/>
                </a:solidFill>
                <a:latin typeface="Calibri"/>
              </a:rPr>
              <a:t>•  Physical medicine &amp; rehabilitation</a:t>
            </a:r>
          </a:p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0CED1"/>
                </a:solidFill>
                <a:latin typeface="Calibri"/>
              </a:rPr>
              <a:t>Sessions are saved and comparable over time — we finally measure how pain changes.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0" y="2011680"/>
            <a:ext cx="3840480" cy="3657600"/>
          </a:xfrm>
          <a:prstGeom prst="rect">
            <a:avLst/>
          </a:prstGeom>
          <a:solidFill>
            <a:srgbClr val="063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2377440"/>
            <a:ext cx="3291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1400" b="1" i="0">
                <a:solidFill>
                  <a:srgbClr val="00CED1"/>
                </a:solidFill>
                <a:latin typeface="Calibri"/>
              </a:rPr>
              <a:t>PARTNERS</a:t>
            </a:r>
          </a:p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Tel Aviv University</a:t>
            </a:r>
          </a:p>
          <a:p>
            <a:pPr algn="ctr">
              <a:spcAft>
                <a:spcPts val="1800"/>
              </a:spcAft>
            </a:pPr>
            <a:r>
              <a:rPr sz="1300" b="0" i="0">
                <a:solidFill>
                  <a:srgbClr val="E8F7F7"/>
                </a:solidFill>
                <a:latin typeface="Calibri"/>
              </a:rPr>
              <a:t>Biomedical Engineering</a:t>
            </a:r>
          </a:p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Loewenstein Rehabilitation
Medical Center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8F7F7"/>
                </a:solidFill>
                <a:latin typeface="Calibri"/>
              </a:rPr>
              <a:t>Clalit Health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6666"/>
                </a:solidFill>
                <a:latin typeface="Calibri"/>
              </a:rPr>
              <a:t>PAINDICATOR  ·  Tel Aviv University × Loewenstein (Clalit)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0CED1"/>
                </a:solidFill>
                <a:latin typeface="Calibri"/>
              </a:rPr>
              <a:t>VISION</a:t>
            </a:r>
          </a:p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063B3D"/>
                </a:solidFill>
                <a:latin typeface="Calibri"/>
              </a:rPr>
              <a:t>Where it goes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72768"/>
            <a:ext cx="2011680" cy="54864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2697480" cy="2926080"/>
          </a:xfrm>
          <a:prstGeom prst="rect">
            <a:avLst/>
          </a:prstGeom>
          <a:solidFill>
            <a:srgbClr val="E8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2697480" cy="109728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606040"/>
            <a:ext cx="640080" cy="64008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63B3D"/>
                </a:solidFill>
                <a:latin typeface="Calibri"/>
              </a:rPr>
              <a:t>Visual heatmap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6666"/>
                </a:solidFill>
                <a:latin typeface="Calibri"/>
              </a:rPr>
              <a:t>color the body by computed pain burden — at a glance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47287" y="2286000"/>
            <a:ext cx="2697480" cy="2926080"/>
          </a:xfrm>
          <a:prstGeom prst="rect">
            <a:avLst/>
          </a:prstGeom>
          <a:solidFill>
            <a:srgbClr val="E8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47287" y="2286000"/>
            <a:ext cx="2697480" cy="109728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21607" y="2606040"/>
            <a:ext cx="640080" cy="64008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7" y="347472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63B3D"/>
                </a:solidFill>
                <a:latin typeface="Calibri"/>
              </a:rPr>
              <a:t>Longitudinal metrics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6666"/>
                </a:solidFill>
                <a:latin typeface="Calibri"/>
              </a:rPr>
              <a:t>numeric change-over-time from the multi-session overlay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496" y="2286000"/>
            <a:ext cx="2697480" cy="2926080"/>
          </a:xfrm>
          <a:prstGeom prst="rect">
            <a:avLst/>
          </a:prstGeom>
          <a:solidFill>
            <a:srgbClr val="E8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4496" y="2286000"/>
            <a:ext cx="2697480" cy="109728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28816" y="2606040"/>
            <a:ext cx="640080" cy="64008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347472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63B3D"/>
                </a:solidFill>
                <a:latin typeface="Calibri"/>
              </a:rPr>
              <a:t>ML pattern recognition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6666"/>
                </a:solidFill>
                <a:latin typeface="Calibri"/>
              </a:rPr>
              <a:t>rules become the labeled foundation + safety net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61703" y="2286000"/>
            <a:ext cx="2697480" cy="2926080"/>
          </a:xfrm>
          <a:prstGeom prst="rect">
            <a:avLst/>
          </a:prstGeom>
          <a:solidFill>
            <a:srgbClr val="E8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61703" y="2286000"/>
            <a:ext cx="2697480" cy="109728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36023" y="2606040"/>
            <a:ext cx="640080" cy="64008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3" y="347472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63B3D"/>
                </a:solidFill>
                <a:latin typeface="Calibri"/>
              </a:rPr>
              <a:t>Regulatory path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6666"/>
                </a:solidFill>
                <a:latin typeface="Calibri"/>
              </a:rPr>
              <a:t>position as decision support; explore CE / device class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6666"/>
                </a:solidFill>
                <a:latin typeface="Calibri"/>
              </a:rPr>
              <a:t>PAINDICATOR  ·  Tel Aviv University × Loewenstein (Clalit)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0CED1"/>
                </a:solidFill>
                <a:latin typeface="Calibri"/>
              </a:rPr>
              <a:t>WHY WE WIN</a:t>
            </a:r>
          </a:p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Five reasons to back PAINDICATOR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566928" cy="566928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063B3D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737360"/>
            <a:ext cx="9875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Genuine novelty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8F7F7"/>
                </a:solidFill>
                <a:latin typeface="Calibri"/>
              </a:rPr>
              <a:t>quantitative pain → nerve mapping, ranked burden + overlap flag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679192"/>
            <a:ext cx="566928" cy="566928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063B3D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633472"/>
            <a:ext cx="9875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Real clinical partner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8F7F7"/>
                </a:solidFill>
                <a:latin typeface="Calibri"/>
              </a:rPr>
              <a:t>co-developed with Loewenstein / Clalit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75304"/>
            <a:ext cx="566928" cy="566928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063B3D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529584"/>
            <a:ext cx="9875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Finished &amp; deployable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8F7F7"/>
                </a:solidFill>
                <a:latin typeface="Calibri"/>
              </a:rPr>
              <a:t>offline tablet app — works today, end to 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471416"/>
            <a:ext cx="566928" cy="566928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063B3D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425696"/>
            <a:ext cx="9875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Explainable &amp; private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8F7F7"/>
                </a:solidFill>
                <a:latin typeface="Calibri"/>
              </a:rPr>
              <a:t>auditable rules; local data; no cloud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367528"/>
            <a:ext cx="566928" cy="566928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063B3D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5321808"/>
            <a:ext cx="9875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Solid engineering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8F7F7"/>
                </a:solidFill>
                <a:latin typeface="Calibri"/>
              </a:rPr>
              <a:t>~5,600 LOC · 2 models · 31 dermatomes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6666"/>
                </a:solidFill>
                <a:latin typeface="Calibri"/>
              </a:rPr>
              <a:t>PAINDICATOR  ·  Tel Aviv University × Loewenstein (Clalit)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C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341183"/>
            <a:ext cx="3657600" cy="7923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834640"/>
            <a:ext cx="1036015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E8F7F7"/>
                </a:solidFill>
                <a:latin typeface="Calibri"/>
              </a:rPr>
              <a:t>Amit Bezalel  ·  Shachar Guttman   —   Biomedical Engineering, Tel Aviv University</a:t>
            </a:r>
          </a:p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0CED1"/>
                </a:solidFill>
                <a:latin typeface="Calibri"/>
              </a:rPr>
              <a:t>We'd love your questions.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212080"/>
            <a:ext cx="9445752" cy="1005840"/>
          </a:xfrm>
          <a:prstGeom prst="rect">
            <a:avLst/>
          </a:prstGeom>
          <a:solidFill>
            <a:srgbClr val="0A5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5349240"/>
            <a:ext cx="8869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FFFFFF"/>
                </a:solidFill>
                <a:latin typeface="Calibri"/>
              </a:rPr>
              <a:t>PAINDICATOR is a research / decision-support tool. Its analysis is a descriptive summary of recorded data — not a diagnosis, and not a substitute for clinical judgment, physical examination, or imaging.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